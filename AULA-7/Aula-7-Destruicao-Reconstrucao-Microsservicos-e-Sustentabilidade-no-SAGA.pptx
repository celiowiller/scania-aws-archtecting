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Medium"/>
      <p:regular r:id="rId201316"/>
    </p:embeddedFont>
    <p:embeddedFont>
      <p:font typeface="Lora SemiBold"/>
      <p:regular r:id="rId201317"/>
    </p:embeddedFont>
    <p:embeddedFont>
      <p:font typeface="Lora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1.png"/><Relationship Id="rId4" Type="http://schemas.openxmlformats.org/officeDocument/2006/relationships/image" Target="../media/image-16-2.svg"/><Relationship Id="rId5" Type="http://schemas.openxmlformats.org/officeDocument/2006/relationships/image" Target="../media/image-16-1.png"/><Relationship Id="rId6" Type="http://schemas.openxmlformats.org/officeDocument/2006/relationships/image" Target="../media/image-1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image" Target="../media/image-1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8947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Aula 7: Destruição, Reconstrução, Microsserviços e Sustentabilidade no SAGA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3047628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Pilar Mestre do Well-Architected Framework: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Sustentabilidade (Sustainability)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com fechamento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Confiabilidade Extrema (Resiliência Global)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245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Contexto de Negócio: AgroVision SAGA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513582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AgroVision SAGA precisa evoluir sua arquitetura. A aplicação gigante antiga (Monólito) será quebrada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microsserviços modernos rodando em contêineres serverless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Para integrar sistemas legados das cooperativas agrícolas sem desperdício de infraestrutura, usaremos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mensageria gerenciada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446958"/>
            <a:ext cx="2299395" cy="1305446"/>
          </a:xfrm>
          <a:prstGeom prst="roundRect">
            <a:avLst>
              <a:gd name="adj" fmla="val 1425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4049092" y="2570931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Mensageria Gerenciada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49092" y="2839194"/>
            <a:ext cx="20514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Integração com sistemas legados das cooperativas via Amazon MQ, sem reescrever código.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8487" y="2446958"/>
            <a:ext cx="2299395" cy="1305446"/>
          </a:xfrm>
          <a:prstGeom prst="roundRect">
            <a:avLst>
              <a:gd name="adj" fmla="val 1425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6472461" y="2570931"/>
            <a:ext cx="205144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Load Balancing &amp; Auto Scaling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72461" y="3033043"/>
            <a:ext cx="20514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Baseados em demanda real para eliminar a pegada de carbono de servidores ociosos.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876377"/>
            <a:ext cx="4722763" cy="714673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4049092" y="4000351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Recuperação de Desastres (DR)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49092" y="4268614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Plano para resguardar o negócio contra catástrofes regionais na AWS.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073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1: Mensageria Híbrida com Amazon MQ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36303"/>
            <a:ext cx="2081361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173510"/>
            <a:ext cx="238973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CONCEITO NO CONTEXTO AGROVISION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06822" y="1464394"/>
            <a:ext cx="4103191" cy="3178299"/>
          </a:xfrm>
          <a:prstGeom prst="roundRect">
            <a:avLst>
              <a:gd name="adj" fmla="val 585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58836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Problema de Negócio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1906191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 cooperativas agrícolas parceiras possuem sistemas locais (on-premises) antigos que controlam a logística de caminhões e os preços diários de grãos. Esses sistemas utilizam corretores de mensagens tradicionais como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RabbitMQ ou ActiveMQ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58836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Dilema de Sustentabilidade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1906191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 a AgroVision subisse instâncias EC2 dedicadas para instalar, manter e rodar manualmente clusters de RabbitMQ, estaríamos alocando servidores fixos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24 horas por dia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consumindo energia e gerando emissões de carbono desnecessárias mesmo de madrugada, quando não há tráfego de caminhões.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02247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Solução: Amazon MQ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3340298"/>
            <a:ext cx="392459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Amazon MQ é um serviço de mensageria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totalmente gerenciado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Apache ActiveMQ e RabbitMQ. Elimina o gerenciamento de SO, aplicação de patches e provisionamento de hardware. Ao usar protocolos padrão (AMQP, MQTT, OpenWire, STOMP), conectamos os sistemas on-premises à nuvem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sem reescrever o código legado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sem desperdício de computação.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25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Criando o Broker RabbitMQ no Console AWS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19820"/>
            <a:ext cx="1339751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457027"/>
            <a:ext cx="164812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PASSO A PASSO PRÁTICO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747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44365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034927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o Amazon MQ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30319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 barra de pesquisas superior do console AWS, digite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Amazon MQ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acesse o serviço.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operadores RabbitMQ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33987" y="1747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1944365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4633987" y="2034927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Selecionar Mecanismo e Modo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3987" y="2303190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Selecione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RabbitMQ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modo de implantação, selecione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Operador de instância única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(em produção usaria "Cluster" para Multi-AZ, mas no laboratório o nó único evita gasto e desperdício elétrico ocioso).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6119" y="311556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312021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40258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Definir Configurações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119" y="3670846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Nome do operador: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AgroVision-Logistica-Broker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Versão do mecanismo: mantenha a sugerida (ex: 4.2). Ative atualizações automáticas de versão secundária.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33987" y="311556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3987" y="3312021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633987" y="340258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Tipo de Instância e Credenciais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3987" y="3670846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Selecione a menor instância disponível (ex: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mq.m7g.large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). Usuário: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operador_saga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Senha forte com mínimo 12 caracteres (ex: AgroVision#2026!Pass).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016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Configurações Adicionais do Broker RabbitMQ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5772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Armazenamento e Logs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7554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Brokers de instância única são provisionados automaticamente com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200 GB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Mantenha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CloudWatch Logs ativado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registrar métricas de uso.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9490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Criptografia de Dados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012728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Selecione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CMK gerenciada pela AWS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(chave aws/mq) ou CMK gerenciada pelo cliente (chave KMS da AgroVision criada na Aula 4). Período de manutenção: Sem preferência.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8749" y="1533748"/>
            <a:ext cx="4103191" cy="2649587"/>
          </a:xfrm>
          <a:prstGeom prst="roundRect">
            <a:avLst>
              <a:gd name="adj" fmla="val 702"/>
            </a:avLst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4762723" y="165772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Configuração de Rede e Isolamento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1975545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 de Acesso: selecione obrigatoriamente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Private access (Acesso privado)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Isso garante que o operador fique 100% isolado na VPC, respondendo apenas ao data center local via túnel VPN/Direct Connect, sem exposição pública na internet.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62723" y="2881015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VPC: Selecione 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AgroVision-VPC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Sub-redes: Selecione uma das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Sub-redes Privadas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Groups: Selecione o grupo interno autorizado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62723" y="3674790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Revise todas as configurações e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operador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O tempo de implantação estimado é de cerca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20 minutos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859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2: Microsserviços Serverless e Sustentabilidade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754163"/>
            <a:ext cx="2362870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791370"/>
            <a:ext cx="267124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CONCEITO NO CONTEXTO AGROVISION SAGA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220622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Problema do Monólito Ocioso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524051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 a aplicação AgroVision (API de sensores, processamento de imagens por IA e disparador de alertas de geada) rodava em um único servidor gigante no EC2. Para o alerta de geada funcionar — evento que só ocorre em poucas madrugadas do ano —, a instância EC2 precisava ficar ligada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24/7 na capacidade máxima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20622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Pilar da Sustentabilidade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524051"/>
            <a:ext cx="3924598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AWS define que a sustentabilidade na nuvem é um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modelo de responsabilidade compartilhada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A AWS cuida da eficiência energética dos data centers, mas o arquiteto de soluções é responsável por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maximizar a utilização e minimizar os recursos ociosos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Manter instâncias EC2 ligadas sem processar nada consome energia elétrica, exige resfriamento nos data centers e aumenta a pegada de carbono do planeta.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4034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Solução Serverless: AWS Fargate no Amazon ECS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45431"/>
            <a:ext cx="290661" cy="290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72344"/>
            <a:ext cx="262637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Contêineres Docker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19399"/>
            <a:ext cx="2626370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Empacotam apenas o microsserviço de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"Alertas de Geada"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suas dependências exatas, sem carregar o peso de toda a aplicação monolítica.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8741" y="945431"/>
            <a:ext cx="290661" cy="290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8741" y="1372344"/>
            <a:ext cx="262644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AWS Fargate (Serverless)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58741" y="1619399"/>
            <a:ext cx="2626444" cy="90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Motor de computação serverless para contêineres. Elimina o gerenciamento de instâncias EC2. O Fargate aloca o número exato de vCPUs e RAM no exato milissegundo em que a geada é detectada.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1437" y="945431"/>
            <a:ext cx="290661" cy="2906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1437" y="1372344"/>
            <a:ext cx="262644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Zero Desperdício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021437" y="1619399"/>
            <a:ext cx="2626444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Assim que o alerta é disparado para os fazendeiros, o Fargate encerra a infraestrutura automaticamente.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Recurso ocioso = Zero. Emissão de carbono desnecessária = Zero.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526" y="2643187"/>
            <a:ext cx="2768873" cy="21362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26970" y="3536125"/>
            <a:ext cx="482908" cy="33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Fluxo de Alerta de Geada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802026" y="4198652"/>
            <a:ext cx="718412" cy="2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AWS Fargate Tasks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802026" y="4450903"/>
            <a:ext cx="718412" cy="171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Tasks provisionadas sob demanda</a:t>
            </a:r>
            <a:endParaRPr lang="en-US" sz="550" dirty="0"/>
          </a:p>
        </p:txBody>
      </p:sp>
      <p:sp>
        <p:nvSpPr>
          <p:cNvPr id="16" name="Text 10"/>
          <p:cNvSpPr/>
          <p:nvPr/>
        </p:nvSpPr>
        <p:spPr>
          <a:xfrm>
            <a:off x="3302262" y="3491957"/>
            <a:ext cx="734117" cy="2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Desligamento Automático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3302262" y="3744208"/>
            <a:ext cx="734117" cy="1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Tasks encerram ao concluir</a:t>
            </a:r>
            <a:endParaRPr lang="en-US" sz="550" dirty="0"/>
          </a:p>
        </p:txBody>
      </p:sp>
      <p:sp>
        <p:nvSpPr>
          <p:cNvPr id="18" name="Text 12"/>
          <p:cNvSpPr/>
          <p:nvPr/>
        </p:nvSpPr>
        <p:spPr>
          <a:xfrm>
            <a:off x="3604571" y="4198652"/>
            <a:ext cx="718412" cy="2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Execução do Microsserviço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3604571" y="4450903"/>
            <a:ext cx="718412" cy="171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Processa e envia alertas</a:t>
            </a:r>
            <a:endParaRPr lang="en-US" sz="550" dirty="0"/>
          </a:p>
        </p:txBody>
      </p:sp>
      <p:sp>
        <p:nvSpPr>
          <p:cNvPr id="20" name="Text 14"/>
          <p:cNvSpPr/>
          <p:nvPr/>
        </p:nvSpPr>
        <p:spPr>
          <a:xfrm>
            <a:off x="5100408" y="3488031"/>
            <a:ext cx="734117" cy="2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Amazon ECS Cluster</a:t>
            </a:r>
            <a:endParaRPr lang="en-US" sz="650" dirty="0"/>
          </a:p>
        </p:txBody>
      </p:sp>
      <p:sp>
        <p:nvSpPr>
          <p:cNvPr id="21" name="Text 15"/>
          <p:cNvSpPr/>
          <p:nvPr/>
        </p:nvSpPr>
        <p:spPr>
          <a:xfrm>
            <a:off x="5100408" y="3740282"/>
            <a:ext cx="734117" cy="1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Recebe e roteia o evento</a:t>
            </a:r>
            <a:endParaRPr lang="en-US" sz="550" dirty="0"/>
          </a:p>
        </p:txBody>
      </p:sp>
      <p:sp>
        <p:nvSpPr>
          <p:cNvPr id="22" name="Text 16"/>
          <p:cNvSpPr/>
          <p:nvPr/>
        </p:nvSpPr>
        <p:spPr>
          <a:xfrm>
            <a:off x="4185631" y="2807101"/>
            <a:ext cx="738043" cy="110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Evento de Geada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4185631" y="2948930"/>
            <a:ext cx="738043" cy="1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Detecção por sensor ou cron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578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Criando a Task Definition no Amazon ECS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21358"/>
            <a:ext cx="2671837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258565"/>
            <a:ext cx="298020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PASSO A PASSO PRÁTICO — MAPEAMENTO DE TELAS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54945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745903"/>
            <a:ext cx="263455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836465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o ECS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104727"/>
            <a:ext cx="2634555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 barra de pesquisas, digite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Elastic Container Service (ECS)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menu lateral esquerdo,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Definições de tarefa (Task definitions)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depois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nova definição de tarefa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54648" y="154945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1745903"/>
            <a:ext cx="263463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3254648" y="1836465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Nomear a Família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4648" y="2104727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Família da definição de tarefa: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SAGA-Microsservico-Alertas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13252" y="154945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1745903"/>
            <a:ext cx="263455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6013252" y="1836465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Requisitos de Infraestrutura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3252" y="2104727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 de inicialização: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AWS Fargate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Sistema operacional: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Linux/X86_64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Modo de rede: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awsvpc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(fixo automaticamente).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33140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510483"/>
            <a:ext cx="401382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601045"/>
            <a:ext cx="40138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Alocação Eficiente de Recursos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19" y="3869308"/>
            <a:ext cx="40138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CPU: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.25 vCPU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(1/4 de vCPU). Memória: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.5 GB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Dimensionar para o privilégio mínimo de recursos evita a reserva excessiva de hardware nos servidores físicos da AWS.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3913" y="33140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13" y="3510483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3" name="Text 21"/>
          <p:cNvSpPr/>
          <p:nvPr/>
        </p:nvSpPr>
        <p:spPr>
          <a:xfrm>
            <a:off x="4633913" y="3601045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Funções IAM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3913" y="3869308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Função da tarefa: Criar novo perfil (ou deixar em branco). Função de execução: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perfil padrão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o ECS criará a role vinculada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ecsTaskExecutionRole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273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Configuração do Contêiner do Microsserviço de Alertas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688306"/>
            <a:ext cx="2299543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725513"/>
            <a:ext cx="260791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CONTÊINER 1 — ALERTA-GEADA-CONTAINER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06822" y="2016398"/>
            <a:ext cx="4103191" cy="2074292"/>
          </a:xfrm>
          <a:prstGeom prst="roundRect">
            <a:avLst>
              <a:gd name="adj" fmla="val 897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14037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Detalhes do Contêiner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58194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Nome: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alerta-geada-container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Contêiner essencial: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Sim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URI da imagem pública de simulação: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796" y="3279874"/>
            <a:ext cx="3855244" cy="446410"/>
          </a:xfrm>
          <a:prstGeom prst="roundRect">
            <a:avLst>
              <a:gd name="adj" fmla="val 4168"/>
            </a:avLst>
          </a:prstGeom>
          <a:solidFill>
            <a:srgbClr val="286C46"/>
          </a:solidFill>
          <a:ln/>
        </p:spPr>
      </p:sp>
      <p:sp>
        <p:nvSpPr>
          <p:cNvPr id="9" name="Shape 7"/>
          <p:cNvSpPr/>
          <p:nvPr/>
        </p:nvSpPr>
        <p:spPr>
          <a:xfrm>
            <a:off x="524619" y="3279874"/>
            <a:ext cx="3867596" cy="446410"/>
          </a:xfrm>
          <a:prstGeom prst="roundRect">
            <a:avLst>
              <a:gd name="adj" fmla="val 4168"/>
            </a:avLst>
          </a:prstGeom>
          <a:solidFill>
            <a:srgbClr val="286C46"/>
          </a:solidFill>
          <a:ln/>
        </p:spPr>
      </p:sp>
      <p:sp>
        <p:nvSpPr>
          <p:cNvPr id="10" name="Text 8"/>
          <p:cNvSpPr/>
          <p:nvPr/>
        </p:nvSpPr>
        <p:spPr>
          <a:xfrm>
            <a:off x="679624" y="3403848"/>
            <a:ext cx="40147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public.ecr.aws/nginx/nginx:latest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214037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Mapeamentos de Porta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8046" y="2458194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Porta do contêiner: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80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TCP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 de aplicação: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HTTP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046" y="326432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Finalizar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8046" y="358214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 até o final da página de configuração e clique no botão laranja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concluir a Task Definition.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391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3: Load Balancer &amp; Auto Scaling Sustentável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589484"/>
            <a:ext cx="2081361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626691"/>
            <a:ext cx="238973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CONCEITO NO CONTEXTO AGROVISION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917576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Os fazendeiros e agrônomos acessam a plataforma SAGA de forma muito desigual ao longo do dia. O pico de acessos ocorre às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06:00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(consulta de umidade do solo e previsão de geada) e às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18:00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(fechamento dos relatórios diários). Entre 22:00 e 05:00, o tráfego despenca para quase zero. Manter 10 servidores fixos 24h gera emissões de carbono para processar o "nada" durante a noite.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652489"/>
            <a:ext cx="2634555" cy="1537097"/>
          </a:xfrm>
          <a:prstGeom prst="roundRect">
            <a:avLst>
              <a:gd name="adj" fmla="val 1211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380" y="279075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Target 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80" y="3059013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Registro lógico dos microsserviços. Monitora constantemente a saúde de cada contêiner via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Health Checks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avisa quem está apto a receber tráfego.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2652489"/>
            <a:ext cx="2634630" cy="1537097"/>
          </a:xfrm>
          <a:prstGeom prst="roundRect">
            <a:avLst>
              <a:gd name="adj" fmla="val 1211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909" y="2790751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Load Balancer (ALB)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2909" y="3059013"/>
            <a:ext cx="235810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Ponto único de entrada público. Recebe todas as requisições HTTP dos aplicativos rurais e as distribui apenas para as tarefas saudáveis registradas no Target Group.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652489"/>
            <a:ext cx="2634555" cy="1537097"/>
          </a:xfrm>
          <a:prstGeom prst="roundRect">
            <a:avLst>
              <a:gd name="adj" fmla="val 1211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1513" y="279075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 Scaling Sustentável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1513" y="3059013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Ajusta dinamicamente o número de tarefas no Fargate. CPU &gt; 70% às 06:00 → adiciona tarefas. CPU cai às 22:00 → encerra tarefas excedentes.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Carga zero = Recursos mínimos = Zero desperdício.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627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Arquitetura: Fluxo de Tráfego com ALB e Auto Scaling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421" y="991419"/>
            <a:ext cx="4939085" cy="2414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6359" y="1822069"/>
            <a:ext cx="1151436" cy="14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 Mobile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850797" y="1269379"/>
            <a:ext cx="1345981" cy="14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Load Balancer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516071" y="2405463"/>
            <a:ext cx="1151436" cy="14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Target Group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39283" y="2968388"/>
            <a:ext cx="1151437" cy="14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 Scaling ECS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3591446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70%</a:t>
            </a:r>
            <a:endParaRPr lang="en-US" sz="3050" dirty="0"/>
          </a:p>
        </p:txBody>
      </p:sp>
      <p:sp>
        <p:nvSpPr>
          <p:cNvPr id="9" name="Text 6"/>
          <p:cNvSpPr/>
          <p:nvPr/>
        </p:nvSpPr>
        <p:spPr>
          <a:xfrm>
            <a:off x="496119" y="4125144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Gatilho de CPU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6119" y="4377407"/>
            <a:ext cx="262339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 alvo de CPU para acionar o Scale-Out automático de novas tarefas Fargate.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60303" y="3591446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</a:t>
            </a:r>
            <a:endParaRPr lang="en-US" sz="3050" dirty="0"/>
          </a:p>
        </p:txBody>
      </p:sp>
      <p:sp>
        <p:nvSpPr>
          <p:cNvPr id="12" name="Text 9"/>
          <p:cNvSpPr/>
          <p:nvPr/>
        </p:nvSpPr>
        <p:spPr>
          <a:xfrm>
            <a:off x="3260303" y="4125144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Máximo de Tarefas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60303" y="4377407"/>
            <a:ext cx="262339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 máximo de expansão para evitar surpresas no orçamento e no consumo elétrico.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24488" y="3591446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300s</a:t>
            </a:r>
            <a:endParaRPr lang="en-US" sz="3050" dirty="0"/>
          </a:p>
        </p:txBody>
      </p:sp>
      <p:sp>
        <p:nvSpPr>
          <p:cNvPr id="15" name="Text 12"/>
          <p:cNvSpPr/>
          <p:nvPr/>
        </p:nvSpPr>
        <p:spPr>
          <a:xfrm>
            <a:off x="6024488" y="4125144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Cooldown Scale-In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24488" y="4377407"/>
            <a:ext cx="262339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Período de espera antes de destruir uma tarefa, evitando oscilações bruscas de capacidade.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498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Etapa A: Criando o Target Group (Grupo de Destino)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20552"/>
            <a:ext cx="3570833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357759"/>
            <a:ext cx="387920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CONSOLE EC2 → BALANCEAMENTO DE CARGA → GRUPOS DE DESTINO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64864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845097"/>
            <a:ext cx="263455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935659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Target Groups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203921"/>
            <a:ext cx="263455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console AWS, acesse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EC2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menu lateral, navegue até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Balanceamento de carga → Grupos de destino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grupo de destino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54648" y="164864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1845097"/>
            <a:ext cx="263463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3254648" y="1935659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Tipo de Destino e Nome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4648" y="2203921"/>
            <a:ext cx="263463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 de destino: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Endereços IP (IP addresses)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obrigatório para contêineres ECS no modo awsvpc do Fargate. Nome: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TG-SAGA-Alertas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13252" y="164864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1845097"/>
            <a:ext cx="263455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6013252" y="1935659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Protocolo e VPC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3252" y="2203921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HTTP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Porta: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80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Tipo de IP: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IPv4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VPC: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AgroVision-VPC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Versão do protocolo: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HTTP1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321476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411215"/>
            <a:ext cx="401382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501777"/>
            <a:ext cx="40138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19" y="3770040"/>
            <a:ext cx="40138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 de verificação de integridade: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HTTP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Caminho: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Próximo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3913" y="321476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13" y="3411215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3" name="Text 21"/>
          <p:cNvSpPr/>
          <p:nvPr/>
        </p:nvSpPr>
        <p:spPr>
          <a:xfrm>
            <a:off x="4633913" y="3501777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Registrar Destinos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3913" y="3770040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Não selecione nenhum IP manualmente — os destinos serão gerenciados e registrados automaticamente pelo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ECS e pelo Auto Scaling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grupo de destino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57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Etapa B: Criando o Application Load Balancer (ALB)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81348"/>
            <a:ext cx="3397225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418555"/>
            <a:ext cx="370559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CONSOLE EC2 → BALANCEAMENTO DE CARGA → LOAD BALANCERS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06822" y="1709440"/>
            <a:ext cx="4103191" cy="2688208"/>
          </a:xfrm>
          <a:prstGeom prst="roundRect">
            <a:avLst>
              <a:gd name="adj" fmla="val 692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833414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Configurações Básicas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151236"/>
            <a:ext cx="3855244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Nome: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ALB-AgroVision-Sustentavel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Esquema: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Com a internet (Internet-facing)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atribui IPs públicos para o app móvel dos fazendeiros se conectar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 de endereço IP: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IPv4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15582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Mapeamento de Rede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796" y="3473648"/>
            <a:ext cx="3855244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VPC: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AgroVision-VPC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Marque pelo menos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duas AZs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(ex: us-east-1a e us-east-1b)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 cada AZ, escolha obrigatoriamente 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Sub-rede Pública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correspondente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183341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Grupos de Segurança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151236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Desmarque o grupo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default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selecione o Security Group público do Load Balancer (ex: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AgroVision-SG-Web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), garantindo que a porta 80 (HTTP) esteja liberada para entrada de tráfego da internet (0.0.0.0/0).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06905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Ouvintes e Roteamento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8046" y="3386882"/>
            <a:ext cx="3924598" cy="440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HTTP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/ Porta: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80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Ação padrão: Encaminhar para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TG-SAGA-Alertas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28046" y="3938811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 até o final e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 load balancer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25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Etapa C: Vinculando o Microsserviço Fargate ao ALB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19820"/>
            <a:ext cx="3319611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457027"/>
            <a:ext cx="362798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ECS → CLUSTERS → CLUSTER-AGROVISION → SERVIÇOS → CRIAR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747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44365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034927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o Cluster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303190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console, acesse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Elastic Container Service (ECS)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menu lateral,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Clusters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selecione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Cluster-AgroVision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Na aba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Serviços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33987" y="1747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1944365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4633987" y="2034927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Opções de Implantação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3987" y="230319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Opção de computação: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Tipo de inicialização (Launch type)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Tipo: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FARGATE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Versão da plataforma: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LATEST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6119" y="311556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312021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40258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Task Definition e Serviço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119" y="3670846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Família: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SAGA-Microsservico-Alertas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Revisão: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 (LATEST)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Nome do serviço: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Servico-Alertas-Geada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Tipo: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Réplica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Tarefas desejadas: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(mínimo sustentável em stand-by).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33987" y="311556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3987" y="3312021"/>
            <a:ext cx="4013895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633987" y="340258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Configuração de Rede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3987" y="3670846"/>
            <a:ext cx="401389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VPC: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AgroVision-VPC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Sub-redes: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Sub-redes Privadas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(contêineres protegidos do acesso direto). Security Group: permite tráfego apenas do SG do ALB. IP público: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DESATIVADO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30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Vinculando o ALB ao Serviço ECS Fargate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28601"/>
            <a:ext cx="2815084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0533" y="1465808"/>
            <a:ext cx="312345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BALANCEAMENTO DE CARGA — O VÍNCULO COM O ALB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06822" y="1756693"/>
            <a:ext cx="4103191" cy="2593702"/>
          </a:xfrm>
          <a:prstGeom prst="roundRect">
            <a:avLst>
              <a:gd name="adj" fmla="val 717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880667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Configuração do Load Balancer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198489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 de balanceador de carga: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Application Load Balancer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Usar balanceador existente: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ALB-AgroVision-Sustentavel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Contêiner para balancear: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alerta-geada-container 80:80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Grupo de destino existente: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TG-SAGA-Alertas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88066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Por que essa arquitetura importa?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198489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 esse vínculo, o ALB passa a encaminhar automaticamente o tráfego HTTP dos aplicativos rurais para os contêineres Fargate saudáveis registrados no Target Group. O ECS gerencia o ciclo de vida dos contêineres, enquanto o ALB garante alta disponibilidade e distribuição inteligente de carga — tudo sem intervenção manual.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3330327"/>
            <a:ext cx="3924598" cy="880542"/>
          </a:xfrm>
          <a:prstGeom prst="roundRect">
            <a:avLst>
              <a:gd name="adj" fmla="val 2113"/>
            </a:avLst>
          </a:prstGeom>
          <a:solidFill>
            <a:srgbClr val="D7F4E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519636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30998" y="3472904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IP público dos contêineres fica DESATIVADO: o único ponto de entrada público é o ALB, garantindo segurança e isolamento da VPC.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44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Configurando o Auto Scaling Sustentável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560016"/>
            <a:ext cx="2929533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597223"/>
            <a:ext cx="323790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SERVICE AUTO SCALING — REGRA DE SUSTENTABILIDADE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88108"/>
            <a:ext cx="2634555" cy="23309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2026369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Ativar o Auto Scaling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294632"/>
            <a:ext cx="230088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Marque a caixa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Usar o Auto Scaling de serviço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Número mínimo de tarefas: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(garante que o serviço nunca fique com zero instâncias em horário operacional). Número máximo de tarefas: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(limita a expansão para evitar surpresas no orçamento e no consumo elétrico).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888108"/>
            <a:ext cx="2634630" cy="23309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0059" y="2026369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Política de Escalamento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50059" y="2294632"/>
            <a:ext cx="2300957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Nome da política: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Politica-CPU-Sustentavel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Tipo: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Rastreamento de destino (Target tracking)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Métrica: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ECSServiceAverageCPUUtilization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Valor de destino: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70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se a CPU média ultrapassar 70%, novas tarefas são adicionadas; se cair abaixo, os contêineres ociosos são desligados automaticamente.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1888108"/>
            <a:ext cx="2634555" cy="23309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8663" y="2026369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Período de Carência (Cooldown)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08663" y="2294632"/>
            <a:ext cx="230088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Scale-in cooldown: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300 segundos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garante um tempo de espera de 5 minutos antes de destruir uma tarefa, evitando oscilações bruscas de capacidade. Clique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Criar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finalizar.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3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Sustentabilidade na Prática: O Impacto Real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40160" y="1873151"/>
            <a:ext cx="152571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0%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28" y="1097905"/>
            <a:ext cx="1860649" cy="1860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13484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Recursos Ociosos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381747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 Fargate e Auto Scaling, contêineres são encerrados automaticamente quando não há demanda.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09033" y="1873151"/>
            <a:ext cx="152571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70%</a:t>
            </a:r>
            <a:endParaRPr lang="en-US" sz="2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601" y="1097905"/>
            <a:ext cx="1860649" cy="18606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4991" y="3113484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CPU Alvo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64991" y="3381747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Gatilho de utilização que equilibra performance e eficiência energética no Auto Scaling.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77980" y="1873151"/>
            <a:ext cx="152571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1/10</a:t>
            </a:r>
            <a:endParaRPr lang="en-US" sz="2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548" y="1097905"/>
            <a:ext cx="1860649" cy="18606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3939" y="3113484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Escala Mínima/Máxima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33939" y="3381747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1 tarefa em stand-by até 10 no pico, sempre alinhado à demanda real dos fazendeiros.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6119" y="4116660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arquitetura tripla (Target Group + ALB + Auto Scaling) representa a aplicação prática do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Pilar de Sustentabilidade do Well-Architected Framework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alinhar o consumo de hardware à demanda real, eliminando emissões de carbono desnecessárias e reduzindo custos operacionais sem comprometer a disponibilidade do serviço para os fazendeiros.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3261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Visão Geral da Arquitetura Completa AgroVision SAGA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598" y="941412"/>
            <a:ext cx="6806803" cy="38288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496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Resumo dos Serviços AWS Utilizados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60537"/>
            <a:ext cx="845493" cy="8454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6103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Amazon MQ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829297"/>
            <a:ext cx="1921669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Mensageria gerenciada para RabbitMQ e ActiveMQ. Integra sistemas legados on-premises à nuvem via protocolos padrão (AMQP, MQTT, STOMP) sem reescrever código e sem servidores ociosos.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1560537"/>
            <a:ext cx="845493" cy="8454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2792" y="256103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Amazon ECS + AWS Fargate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572792" y="2829297"/>
            <a:ext cx="1921669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Orquestração de contêineres serverless. Aloca vCPUs e RAM apenas durante a execução do microsserviço, encerrando a infraestrutura automaticamente ao concluir. Recurso ocioso = Zero.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1560537"/>
            <a:ext cx="845493" cy="8454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9465" y="256103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Load Balancer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649465" y="2829297"/>
            <a:ext cx="1921669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Ponto único de entrada público. Distribui requisições HTTP apenas para tarefas saudáveis no Target Group, garantindo alta disponibilidade em múltiplas Zonas de Disponibilidade.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1560537"/>
            <a:ext cx="845567" cy="8455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26138" y="2561109"/>
            <a:ext cx="192174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 Scaling (Target Tracking)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726138" y="3023220"/>
            <a:ext cx="192174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Ajusta dinamicamente o número de tarefas Fargate com base na utilização média de CPU (70%). Scale-Out no pico, Scale-In na madrugada. Cooldown de 300s evita oscilações bruscas.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45058"/>
            <a:ext cx="4722763" cy="750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Conclusão: Sustentabilidade como Pilar Estratégico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270620"/>
            <a:ext cx="4722763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Aula 7 demonstrou como a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 SAGA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evoluiu de um monólito ocioso para uma arquitetura moderna, eficiente e sustentável, aplicando na prática o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Pilar de Sustentabilidade do Well-Architected Framework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969219"/>
            <a:ext cx="2303190" cy="1065461"/>
          </a:xfrm>
          <a:prstGeom prst="roundRect">
            <a:avLst>
              <a:gd name="adj" fmla="val 1692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4045223" y="2089324"/>
            <a:ext cx="206298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Mensageria Híbrida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5223" y="2346871"/>
            <a:ext cx="2062981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Amazon MQ integra cooperativas legadas sem desperdício de servidores dedicados 24/7.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44692" y="1969219"/>
            <a:ext cx="2303190" cy="1065461"/>
          </a:xfrm>
          <a:prstGeom prst="roundRect">
            <a:avLst>
              <a:gd name="adj" fmla="val 1692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6464796" y="2089324"/>
            <a:ext cx="206298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Microsserviços Serverless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64796" y="2346871"/>
            <a:ext cx="2062981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Fargate no ECS elimina recursos ociosos — infraestrutura existe apenas durante a execução.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151063"/>
            <a:ext cx="4722763" cy="876226"/>
          </a:xfrm>
          <a:prstGeom prst="roundRect">
            <a:avLst>
              <a:gd name="adj" fmla="val 2057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4045223" y="3271168"/>
            <a:ext cx="448255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Escala Inteligente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5223" y="3528715"/>
            <a:ext cx="448255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ALB + Auto Scaling alinham consumo de hardware à demanda real, zerando emissões desnecessárias.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4158183"/>
            <a:ext cx="14288" cy="640259"/>
          </a:xfrm>
          <a:prstGeom prst="roundRect">
            <a:avLst>
              <a:gd name="adj" fmla="val 59998"/>
            </a:avLst>
          </a:prstGeom>
          <a:solidFill>
            <a:srgbClr val="1B5F39"/>
          </a:solidFill>
          <a:ln/>
        </p:spPr>
      </p:sp>
      <p:sp>
        <p:nvSpPr>
          <p:cNvPr id="15" name="Text 12"/>
          <p:cNvSpPr/>
          <p:nvPr/>
        </p:nvSpPr>
        <p:spPr>
          <a:xfrm>
            <a:off x="4105349" y="4289078"/>
            <a:ext cx="4542532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sustentabilidade na nuvem é responsabilidade compartilhada: a AWS cuida dos data centers, e o arquiteto cuida de não desperdiçar o que a AWS oferece.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2026-07-23T15:16:50Z</dcterms:created>
  <dcterms:modified xsi:type="dcterms:W3CDTF">2026-07-23T15:16:50Z</dcterms:modified>
</cp:coreProperties>
</file>