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Medium"/>
      <p:regular r:id="rId201316"/>
    </p:embeddedFont>
    <p:embeddedFont>
      <p:font typeface="Lora SemiBold"/>
      <p:regular r:id="rId201317"/>
    </p:embeddedFont>
    <p:embeddedFont>
      <p:font typeface="Lora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56369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Aula 6: Conectividade Híbrida e Cache de Alta Performance no SAGA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705049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Nesta aula, mergulhamos em dois grandes desafios de engenharia do ecossistema AgroVision SAGA: integrar com segurança o ambiente físico da cooperativa à nuvem AWS e resolver os problemas de latência e perda de sessão que afetam os fazendeiros. Uma jornada guiada pelos pilares 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Confiabilidade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Eficiência de Performance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do Well-Architected Framework.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836887"/>
            <a:ext cx="22993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4049092" y="2960861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49092" y="3229124"/>
            <a:ext cx="20514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Conectividade Remota e Redes Híbridas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48487" y="2836887"/>
            <a:ext cx="22993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6472461" y="2960861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72461" y="3229124"/>
            <a:ext cx="20514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Emparelhamento de VPCs (VPC Peering)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3873996"/>
            <a:ext cx="22993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4049092" y="3997970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49092" y="4266233"/>
            <a:ext cx="20514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Arquitetura de Cache de Alta Performance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48487" y="3873996"/>
            <a:ext cx="22993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5" name="Text 12"/>
          <p:cNvSpPr/>
          <p:nvPr/>
        </p:nvSpPr>
        <p:spPr>
          <a:xfrm>
            <a:off x="6472461" y="3997970"/>
            <a:ext cx="20514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Bloco 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2461" y="4266233"/>
            <a:ext cx="20514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Debate Arquitetural Híbrido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81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Contexto de Negócio e Metodologia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555403"/>
            <a:ext cx="4103191" cy="2606204"/>
          </a:xfrm>
          <a:prstGeom prst="roundRect">
            <a:avLst>
              <a:gd name="adj" fmla="val 714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679377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Pilares do Well-Architected 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997199"/>
            <a:ext cx="385524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Esta aula é ancorada no pilar 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Confiabilidade (Reliability)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como protagonista, com o pilar 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Eficiência de Performance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como coadjuvante. A metodologia aplicada é 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Learning by Doing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com Mapeamento Atômico de Componentes e Engenharia de Resiliência.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67937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Cenário da AgroVision SAGA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199719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AgroVision SAGA fundiu-se com uma cooperativa que possui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 centers físicos (on-premises)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O desafio é duplo: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505745"/>
            <a:ext cx="3924598" cy="103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Integração híbrida: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conectar o ambiente local à nuvem com segurança e tolerância a falhas.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Saturação do banco de dados: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 volume de acessos dos fazendeiros está sobrecarregando o RDS e causando perda de login sempre que um servidor web reinicia.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653061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Nossa missão é resolver essas dores de conectividade e latência com soluções de engenharia robustas e bem fundamentadas.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3560"/>
            <a:ext cx="554087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40767"/>
            <a:ext cx="862459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4168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Conectividade Remota e Redes Híbridas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1526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pilar de Confiabilidade exige que nossos sistemas sejam tolerantes a falhas de conectividade e protejam os perímetros de rede. Ao estender a rede da AgroVision para o ambiente físico da cooperativa, temos dois caminhos de engenharia com propósitos e trade-offs distintos.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51720"/>
            <a:ext cx="4013895" cy="15370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530" y="1989981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AWS Site-to-Site VPN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1530" y="2258244"/>
            <a:ext cx="368022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Cria um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túnel criptografado seguro (IPsec)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através da internet pública. É rápido de provisionar, barato e ideal como conexão principal para projetos de médio porte ou como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backup imediato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Trade-off: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depende da oscilação de tráfego da internet comum, sem garantia de latência estável.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851720"/>
            <a:ext cx="4013895" cy="15370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9398" y="1989981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AWS Direct Connect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29398" y="2258244"/>
            <a:ext cx="368022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Estabelece uma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conexão de rede física dedicada (fibra óptica)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contornando a internet inteira. Garante latência ultrabaixa e previsível, além de segurança extrema.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Trade-off: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custo elevado e prazo de instalação longo, exigindo planejamento arquitetural antecipado.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96119" y="3528343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13" name="Text 9"/>
          <p:cNvSpPr/>
          <p:nvPr/>
        </p:nvSpPr>
        <p:spPr>
          <a:xfrm>
            <a:off x="620092" y="3652317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 Gateway (CGW)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0092" y="3920579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dispositivo físico ou software de firewall que fica no data center local da cooperativa. É o ponto de entrada do lado on-premises.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33987" y="3528343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16" name="Text 12"/>
          <p:cNvSpPr/>
          <p:nvPr/>
        </p:nvSpPr>
        <p:spPr>
          <a:xfrm>
            <a:off x="4757961" y="3652317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Virtual Private Gateway (VGW)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57961" y="3920579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porta de entrada concentradora de VPN acoplada ao lado da nossa VPC na nuvem. Recebe e termina os túneis VPN vindos do CGW.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9489"/>
            <a:ext cx="1357759" cy="179561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035" y="474911"/>
            <a:ext cx="1673126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1 — PASSO A PASSO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64071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Criando a Infraestrutura Híbrida na AWS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202531"/>
            <a:ext cx="86089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Cenário: criar a estrutura de conectividade para interligar o data center local da cooperativa sem usar atalhos automáticos.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1513954"/>
            <a:ext cx="23641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700585"/>
            <a:ext cx="264214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788244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Acessar o serviço VPC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6119" y="2040508"/>
            <a:ext cx="264214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 barra de pesquisas superior, digite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VPC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selecione o serviço.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50927" y="1513954"/>
            <a:ext cx="23641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50927" y="1700585"/>
            <a:ext cx="264214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3250927" y="1788244"/>
            <a:ext cx="264214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Criar o Customer Gateway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50927" y="2040508"/>
            <a:ext cx="2642146" cy="1108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menu lateral, vá em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Virtual Private Network (VPN) → Customer Gateways → Create Customer Gateway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Defina: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Name: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CGW-Cooperativa-OnPremises |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BGP ASN: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65000 (padrão) |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IP Address: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IP público estático do data center local (ex: 203.0.113.12).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05736" y="1513954"/>
            <a:ext cx="23641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5736" y="1700585"/>
            <a:ext cx="264214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6" name="Text 14"/>
          <p:cNvSpPr/>
          <p:nvPr/>
        </p:nvSpPr>
        <p:spPr>
          <a:xfrm>
            <a:off x="6005736" y="1788244"/>
            <a:ext cx="264214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Criar e Anexar o Virtual Private Gateway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05736" y="2225204"/>
            <a:ext cx="2642146" cy="923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Clique em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Virtual private gateways → Create virtual private gateway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Name: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VGW-AgroVision-Cloud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Após criar, selecione o VGW, clique em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Actions → Attach to VPC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escolha a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AgroVision-Manual-VPC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119" y="3349972"/>
            <a:ext cx="23641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3536603"/>
            <a:ext cx="401955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3624263"/>
            <a:ext cx="4019550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Criar a VPN Connection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6119" y="3876526"/>
            <a:ext cx="4019550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Vá em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Site-to-Site VPN Connections → Create VPN Connection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Name: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VPN-Hibrida-SAGA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| Target gateway type: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Virtual Private Gateway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(selecionar VGW-AgroVision-Cloud) | Customer Gateway: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Existing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CGW-Cooperativa-OnPremises.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8331" y="3349972"/>
            <a:ext cx="23641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8331" y="3536603"/>
            <a:ext cx="401955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4" name="Text 22"/>
          <p:cNvSpPr/>
          <p:nvPr/>
        </p:nvSpPr>
        <p:spPr>
          <a:xfrm>
            <a:off x="4628331" y="3624263"/>
            <a:ext cx="4019550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Engenharia de Rotas Híbridas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28331" y="3876526"/>
            <a:ext cx="4019550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 o tráfego fluir, vá em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Route tables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selecione a tabela de rotas privada da VPC, acesse a aba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Route propagation → Edit route propagation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marque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Enable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o VGW. Isso instrui a nuvem a aprender automaticamente os caminhos que levam ao data center físico.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30622"/>
            <a:ext cx="571202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967829"/>
            <a:ext cx="87957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6874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Emparelhamento de VPCs (VPC Peering)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74233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AgroVision adquiriu outra startup de agrotech com servidores operando em uma VPC totalmente isolada na AWS. Como interligar sem quebrar a segurança?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78782"/>
            <a:ext cx="2634555" cy="1934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530" y="2417043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1530" y="2685306"/>
            <a:ext cx="230088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Passar dados confidenciais de sensores por IPs públicos na internet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viola o pilar de Segurança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compromete a Confiabilidade. É necessária uma solução que mantenha o tráfego inteiramente dentro da infraestrutura privada da AWS.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2278782"/>
            <a:ext cx="2634630" cy="1934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0059" y="2417043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Solução: VPC Peering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50059" y="2685306"/>
            <a:ext cx="2300957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Uma conexão de rede que permite rotear o tráfego entre duas VPCs de forma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direta e privada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O tráfego trafega inteiramente pelo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AWS Global Backbone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utilizando IPs privados internos. Nenhum pacote passa pela internet pública.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2278782"/>
            <a:ext cx="2634555" cy="1934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08663" y="2417043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Regra Crítica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208663" y="2685306"/>
            <a:ext cx="230088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 duas VPCs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não podem ter blocos de IPs (CIDR) idênticos ou sobrepostos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Por exemplo, se ambas usarem 10.0.0.0/16, o emparelhamento falha por conflito de rotas. O planejamento de endereçamento IP é obrigatório antes de qualquer peering.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4401"/>
            <a:ext cx="1350466" cy="176585"/>
          </a:xfrm>
          <a:prstGeom prst="roundRect">
            <a:avLst>
              <a:gd name="adj" fmla="val 7903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5845" y="479227"/>
            <a:ext cx="1668214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2 — PASSO A PASSO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64592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Configurando o VPC Peering na AWS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191444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374725"/>
            <a:ext cx="402133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461418"/>
            <a:ext cx="402133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Acessar Peering Connections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1708472"/>
            <a:ext cx="4021336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painel do serviço VPC, no menu lateral esquerdo, clique em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Peering connections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26471" y="1191444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471" y="1374725"/>
            <a:ext cx="402141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4626471" y="1461418"/>
            <a:ext cx="40214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Criar a Conexão de Peering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6471" y="1708472"/>
            <a:ext cx="4021410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Clique em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Create peering connection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Defina: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Name: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Peering-SAGA-StartupAdquirida |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VPC ID (Requester):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AgroVision-Manual-VPC |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Account: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My account |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VPC ID (Accepter):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 VPC da startup adquirida simulada.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119" y="2625626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2808908"/>
            <a:ext cx="402133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2895600"/>
            <a:ext cx="402133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Aceitar a Solicitação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142655"/>
            <a:ext cx="4021336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status ficará como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"Pending Acceptance"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Em um cenário real, o administrador da outra rede precisaria aprovar. Como estamos no controle, selecione a conexão, clique em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Actions → Accept request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26471" y="2625626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471" y="2808908"/>
            <a:ext cx="4021410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471" y="2895600"/>
            <a:ext cx="40214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Ajuste de Rotas Obrigatório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6471" y="3142655"/>
            <a:ext cx="4021410" cy="90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túnel existe, mas as tabelas de rotas ainda não o conhecem. Vá em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Route tables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selecione a tabela pública ou privada e clique em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Edit routes → Add route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No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Destination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coloque o bloco de IP da startup (ex: 192.168.0.0/16). No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Target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selecione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Peering Connection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escolha o peering criado. Salve as alterações.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6119" y="4253657"/>
            <a:ext cx="8151763" cy="445368"/>
          </a:xfrm>
          <a:prstGeom prst="roundRect">
            <a:avLst>
              <a:gd name="adj" fmla="val 3917"/>
            </a:avLst>
          </a:prstGeom>
          <a:solidFill>
            <a:srgbClr val="FCF2B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53" y="4416251"/>
            <a:ext cx="145331" cy="11623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3919" y="4391695"/>
            <a:ext cx="811492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 o ajuste de rotas, o peering existe mas o tráfego não flui. A configuração das Route Tables é obrigatória em ambos os lados da conexão.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5267"/>
            <a:ext cx="573212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22474"/>
            <a:ext cx="88158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2339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Arquitetura de Cache de Alta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2094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Problema no SAGA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838771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Os fazendeiros reclamam que a plataforma fica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excessivamente lenta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em determinados horários e são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desconectados repentinamente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Dois problemas distintos: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2545779"/>
            <a:ext cx="3924598" cy="1234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banco relacional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RDS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está sendo sobrecarregado com consultas repetitivas de leitura (ex: cotação diária do preço de grãos).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Os dados de sessão de login estão salvos na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memória local de uma única instância EC2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Se o Auto Scaling reiniciar essa instância, o token de login some e o usuário é deslogado.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8749" y="1396975"/>
            <a:ext cx="4103191" cy="2624807"/>
          </a:xfrm>
          <a:prstGeom prst="roundRect">
            <a:avLst>
              <a:gd name="adj" fmla="val 709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4762723" y="1520949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Solução: Amazon ElastiCache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723" y="1838771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Serviço de armazenamento de dados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memória RAM totalmente gerenciado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(Redis ou Memcached) que atua como uma camada ultra-rápida entre a computação e a persistência em disco.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62723" y="2744242"/>
            <a:ext cx="3855244" cy="1234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Cache de Sessão Web: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retira o estado de login das instâncias EC2 e centraliza no ElastiCache Redis. A aplicação vira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Stateless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permitindo escalabilidade horizontal estável.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Cache de Banco de Dados: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guarda em memória RAM consultas idênticas repetidas, reduzindo drasticamente o consumo de IOPS do RDS.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416130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fluxo de acesso prioriza sempre o ElastiCache. Apenas em caso 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Cache Miss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 aplicação consulta o RDS, gravando o resultado de volta no cache para as próximas requisições.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5653"/>
            <a:ext cx="1300088" cy="173757"/>
          </a:xfrm>
          <a:prstGeom prst="roundRect">
            <a:avLst>
              <a:gd name="adj" fmla="val 7898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4728" y="379958"/>
            <a:ext cx="1620069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3 — LABORATÓRIO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61529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Fluxo Lógico: Estratégia Lazy Loading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076995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Metodologia Prática: o fluxo lógico é desenhado no quadro passo a passo com os alunos. O objetivo é compreender a lógica de programação de arquitetura para a estratégia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Lazy Loading (Carregamento Preguiçoso)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1547217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727225"/>
            <a:ext cx="402319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812950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Solicitação da Aplicação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054870"/>
            <a:ext cx="4023196" cy="356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aplicativo solicita o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preço da saca de soja do dia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A aplicação faz um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GET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Amazon ElastiCache buscando a chave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preco_soja_hoje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4685" y="1547217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4685" y="1727225"/>
            <a:ext cx="402319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4624685" y="1812950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Cenário A: Cache Hit (Sucesso)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24685" y="2054870"/>
            <a:ext cx="4023196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dado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é encontrado na memória RAM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Retorna imediatamente em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~2ms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o usuário. O banco RDS nem fica sabendo da consulta — zero impacto no banco de dados.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119" y="2773487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2953494"/>
            <a:ext cx="402319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039219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Cenário B: Cache Miss (Falha de Cache)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281139"/>
            <a:ext cx="4023196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dado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não está no cache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porque é a primeira consulta do dia ou o TTL expirou. A aplicação vai até o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Amazon RDS em disco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recupera o valor correto e faz um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SET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gravando esse valor no ElastiCache com um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TTL definido (ex: 1 hora)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Retorna o valor ao fazendeiro.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4685" y="2773487"/>
            <a:ext cx="2286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4685" y="2953494"/>
            <a:ext cx="4023196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0" name="Text 18"/>
          <p:cNvSpPr/>
          <p:nvPr/>
        </p:nvSpPr>
        <p:spPr>
          <a:xfrm>
            <a:off x="4624685" y="3039219"/>
            <a:ext cx="402319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Resultado das Próximas Consultas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4685" y="3281139"/>
            <a:ext cx="4023196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Todas as consultas subsequentes dentro do período de TTL serão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Cache Hit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servidas diretamente da RAM em milissegundos, sem nenhuma carga adicional sobre o RDS.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6119" y="4188768"/>
            <a:ext cx="8151763" cy="609079"/>
          </a:xfrm>
          <a:prstGeom prst="roundRect">
            <a:avLst>
              <a:gd name="adj" fmla="val 2816"/>
            </a:avLst>
          </a:prstGeom>
          <a:solidFill>
            <a:srgbClr val="D7F4E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19" y="4345930"/>
            <a:ext cx="142875" cy="1143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7594" y="4322713"/>
            <a:ext cx="766598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TTL (Time to Live) é o mecanismo que garante que dados desatualizados sejam eventualmente invalidados e recarregados do banco de dados. Escolher o TTL correto é uma decisão arquitetural crítica.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2908"/>
            <a:ext cx="571723" cy="188565"/>
          </a:xfrm>
          <a:prstGeom prst="roundRect">
            <a:avLst>
              <a:gd name="adj" fmla="val 7894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60115"/>
            <a:ext cx="88009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BLOCO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6103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Debate Arquitetural Híbrido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3461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Encerre as 4 horas intensas reunindo a sala em uma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mesa redonda de engenharia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defender os trade-offs do ecossistema SAGA.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672605"/>
            <a:ext cx="14288" cy="1072828"/>
          </a:xfrm>
          <a:prstGeom prst="roundRect">
            <a:avLst>
              <a:gd name="adj" fmla="val 59998"/>
            </a:avLst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682154" y="1812131"/>
            <a:ext cx="79657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"Time de arquitetos, a cooperativa agrícola quer transmitir dados confidenciais financeiros históricos da rede local para o nosso S3/RDS na AWS. Eles exigem segurança absoluta e garantia de que nenhum pacote seja interceptado ou sofra atrasos na transmissão. O orçamento deles para infraestrutura de rede é moderado. Qual solução vocês implementariam primeiro e qual seria a estratégia de evolução a longo prazo para respeitar o pilar de Confiabilidade?"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885033"/>
            <a:ext cx="4013895" cy="17355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1530" y="3023295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Resposta Esperada: Início Imediato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1530" y="3291557"/>
            <a:ext cx="368022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 início imediato e baixo custo, ativa-se 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AWS Site-to-Site VPN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através de túneis criptografados privados (IPsec). Atende ao requisito de segurança com custo e prazo de provisionamento reduzidos, respeitando o orçamento moderado da cooperativa.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2885033"/>
            <a:ext cx="4013895" cy="17355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9398" y="3023295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Resposta Esperada: Evolução Arquitetural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29398" y="3291557"/>
            <a:ext cx="3680222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À medida que o volume e a exigência de latência estável escalarem, o planejamento arquitetural deve evoluir para um link de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AWS Direct Connect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como principal, mantendo a conexão VPN configurada como 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circuito de backup automático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caso a fibra dedicada seja rompida fisicamente no campo.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709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Síntese da Aula 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23106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Aula 6 cobriu redes híbridas, peering privado e performance avançada de cache de maneira integrada, mantendo a narrativa do ecossistema SAGA ativo e focado no pilar de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Confiabilidade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06203"/>
            <a:ext cx="290661" cy="2906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833116"/>
            <a:ext cx="400771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Redes Híbridas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080171"/>
            <a:ext cx="4007718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Site-to-Site VPN para conexão rápida e segura via internet pública. Direct Connect para latência dedicada e previsível. CGW e VGW como anatomia da infraestrutura híbrida.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0089" y="1406203"/>
            <a:ext cx="290661" cy="290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0089" y="1833116"/>
            <a:ext cx="400779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VPC Peering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40089" y="2080171"/>
            <a:ext cx="400779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Conexão privada entre VPCs pelo AWS Global Backbone, sem passar pela internet. Regra crítica: CIDRs não podem se sobrepor. Ajuste de Route Tables é obrigatório.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38896"/>
            <a:ext cx="290661" cy="2906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265810"/>
            <a:ext cx="400771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ElastiCache &amp; Lazy Loading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512865"/>
            <a:ext cx="4007718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Cache de sessão elimina o problema de stateful EC2. Cache de banco de dados reduz IOPS do RDS. Estratégia Lazy Loading com TTL garante consistência e performance.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0089" y="2838896"/>
            <a:ext cx="290661" cy="2906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0089" y="3265810"/>
            <a:ext cx="400779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Estratégia de Evolução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640089" y="3512865"/>
            <a:ext cx="400779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VPN como solução inicial de baixo custo evoluindo para Direct Connect como link principal, com VPN como backup automático — respeitando o pilar de Confiabilidade a longo prazo.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96119" y="4176192"/>
            <a:ext cx="8151763" cy="625599"/>
          </a:xfrm>
          <a:prstGeom prst="roundRect">
            <a:avLst>
              <a:gd name="adj" fmla="val 2788"/>
            </a:avLst>
          </a:prstGeom>
          <a:solidFill>
            <a:srgbClr val="D7F4E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353" y="4338786"/>
            <a:ext cx="145331" cy="1162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3919" y="4314230"/>
            <a:ext cx="765772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 essa estrutura, o ecossistema SAGA está preparado para crescer com segurança, resiliência e alta performance — conectando o campo à nuvem com engenharia de classe mundial.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2026-07-22T15:40:30Z</dcterms:created>
  <dcterms:modified xsi:type="dcterms:W3CDTF">2026-07-22T15:40:30Z</dcterms:modified>
</cp:coreProperties>
</file>